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Esta é a história que ficou de fora do talk de 6 min ('guardar para pergunta'): como duas ferramentas — o Claude Code (o ambiente) e as Skills (a expertise) — montaram dois sistemas agênticos num laboratório sem especialistas em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Espelha a tese do talk principal, mas para o software. Assim como faltava eletrônica/firmware/visão no módulo físico, faltava arquitetura de sistemas agênticos. Essas seis competências são o que um agente sério cobra — e não tínhamos nenhuma.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distção central. Claude Code é o 'como': o ambiente que lê, edita, roda e integra. A skill é o 'quem sabe': expertise de produção empacotada. Sem a skill, o Claude Code ainda ajuda; com ela, ele aplica um padrão testado que ninguém no lab conhecia.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uma skill funciona por dentro. Duas camadas: o LLM (julgamento) só preenche uma especificação; um script determinístico renderiza o projeto a partir de templates tirados de código de produção real. Isso dá confiabilidade: todo projeto sai no mesmo padrão testado.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sistema: o agente de voz Marco, já no repositório. Loop clássico: escutar, transcrever, pensar com function calling, agir e falar. O ponto honesto: a regra de segurança inegociável no prompt — ele comanda uma mão de verdade, então nunca inventa que moveu.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sistema, o que construímos ao vivo com a skill: o jokenpô. Uma rodada é um pipeline determinístico Agno de cinco passos — vê o gesto, sorteia, move a mão, julga e narra. Claude é o provider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processo real que usamos. Os quatro primeiros passos são da skill: descrevi em uma frase, ela fez três perguntas (arquitetura, hardware, modelo), montou a spec e gerou o scaffold. Do cinco em diante é Claude Code + nós: ele leu a infra do Thoth e plugou, nós implementamos a lógica e validamos.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mesma gramática do talk principal, aplicada ao software: para cada lacuna de competência, onde o Claude entrou e qual arquivo prova. Repare que uma parte veio da skill (arquitetura) e outra do Claude Code lendo a infra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honesto — no espírito do talk principal. A ferramenta não substituiu o engenheiro: ela empacotou um conhecimento de arquitetura que o lab não tinha. As decisões de projeto, a lógica e, principalmente, a verificação continuam nossas.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Verificação — o mesmo valor do talk principal. A lógica pura tem testes; o workflow tem smoke test; rodamos o pipeline inteiro ponta a ponta. E achamos um bug real: o Claude se confundia narrando a derrota — corrigimos o prompt. 'Parecer plausível' não sobrevive: ou os cinco steps rodam, ou não rodam.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resultado concreto: dois sistemas agênticos, ambos abertos. O Marco (voz) e o jokenpô (navegador), sobre o mesmo hardware. Aqui entra o QR do repositório e, se der, uma demo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Fecho, ecoando o talk principal: os pareceres estavam certos sobre o futuro (vamos precisar de especialistas) e errados sobre o mínimo para começar. O mínimo para um sistema agêntico virou: um repo, uma ideia, o Claude Code e uma skill. E a skill é a própria tese virada produto — expertise empacotada.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 THOTH  ·  FiSi Lab / UFRGS  ·  Enfitec Jr.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montamos um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agêntico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Claude Code: expertise empacotada, sem time de especialistas.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AMBIENTE
</a:t>
            </a:r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66160" y="50292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0A3BD"/>
                </a:solidFill>
              </a:rPr>
              <a:t>+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206240" y="502920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50292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EXPERTISE
</a:t>
            </a:r>
            <a:pPr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23760" y="50292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0A3BD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863840" y="5029200"/>
            <a:ext cx="3749040" cy="868680"/>
          </a:xfrm>
          <a:prstGeom prst="roundRect">
            <a:avLst>
              <a:gd name="adj" fmla="val 9474"/>
            </a:avLst>
          </a:prstGeom>
          <a:solidFill>
            <a:srgbClr val="182743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5029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agêntico funcional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laboratório sem especialistas em sistemas agênticos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um agente de verdade cobra competências específicas — e nenhuma existia aqui: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85416"/>
            <a:ext cx="402336" cy="402336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Orquestração multi-agente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2715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e workflows que colaboram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185416"/>
            <a:ext cx="402336" cy="402336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38344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agentes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715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do Agno, bem usados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185416"/>
            <a:ext cx="402336" cy="402336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14816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multi-provedor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71576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entre LLMs quando um cai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3016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49624"/>
            <a:ext cx="402336" cy="402336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61872" y="3813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&amp; sessão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" y="4379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entre conversas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25112" y="363016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849624"/>
            <a:ext cx="402336" cy="402336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38344" y="3813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44568" y="4379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agindo, não só falando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01584" y="3630168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752" y="3849624"/>
            <a:ext cx="402336" cy="402336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02752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814816" y="38130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em hardware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37997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atuador físico de verdade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delas existia no laboratório.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DUAS FERRAMENTAS, DOIS PAPÉIS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é o ambiente. A skill é o conhecimento.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ambiente agêntico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repositório inteiro — conhece o Thoth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Edita, roda e testa o código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sistemas (serial, câmera, voz)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 junto com você, passo a passo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3749040"/>
          </a:xfrm>
          <a:prstGeom prst="roundRect">
            <a:avLst>
              <a:gd name="adj" fmla="val 2195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expertise empacotada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playbook de um engenheiro sênior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encodado uma vez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de forma consistente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Replicável — outros usam igual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85216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85216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executa. A skill traz o conhecimento que faltava — os dois juntos fecham a lacuna.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ANATOMIA DE UMA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agno-factory: duas camadas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491740" cy="1783080"/>
          </a:xfrm>
          <a:prstGeom prst="roundRect">
            <a:avLst>
              <a:gd name="adj" fmla="val 4615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26771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CAMADA 1 · O LLM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247802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342900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 decide. Adapta ao caso.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0380" y="2148840"/>
            <a:ext cx="365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06140" y="2148840"/>
            <a:ext cx="2491740" cy="1783080"/>
          </a:xfrm>
          <a:prstGeom prst="roundRect">
            <a:avLst>
              <a:gd name="adj" fmla="val 4615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5012" y="226771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ARTEFATO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5012" y="247802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AgentSpec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5012" y="342900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YAML. A única coisa que o LLM produz.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0" y="2148840"/>
            <a:ext cx="365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2491740" cy="1783080"/>
          </a:xfrm>
          <a:prstGeom prst="roundRect">
            <a:avLst>
              <a:gd name="adj" fmla="val 4615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26771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CAMADA 2 · O SCRIPT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82512" y="247802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342900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templates. Determinístico.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55380" y="2148840"/>
            <a:ext cx="365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21140" y="2148840"/>
            <a:ext cx="2491740" cy="1783080"/>
          </a:xfrm>
          <a:prstGeom prst="roundRect">
            <a:avLst>
              <a:gd name="adj" fmla="val 4615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226771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SAÍDA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40012" y="247802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Agno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40012" y="342900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pronto, no padrão de produção.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48056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não escreve o código final — só preenche a especificação. Mesma spec, mesmo projeto, sempre.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templates não são inventados: vêm de sistemas em produção (Sofia, Ana/Pedro, GARRA). O que já funciona vira molde.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 1  ·  feito no Claude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— o agente de voz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91740" cy="1554480"/>
          </a:xfrm>
          <a:prstGeom prst="roundRect">
            <a:avLst>
              <a:gd name="adj" fmla="val 529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OUVIR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220370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292608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microfone + detecção de fala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0380" y="187452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06140" y="1874520"/>
            <a:ext cx="2491740" cy="1554480"/>
          </a:xfrm>
          <a:prstGeom prst="roundRect">
            <a:avLst>
              <a:gd name="adj" fmla="val 529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5012" y="199339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5012" y="220370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5012" y="292608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(voz → texto)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97880" y="187452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2491740" cy="1554480"/>
          </a:xfrm>
          <a:prstGeom prst="roundRect">
            <a:avLst>
              <a:gd name="adj" fmla="val 5294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99339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82512" y="220370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292608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 e chama ferramentas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55380" y="187452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21140" y="1874520"/>
            <a:ext cx="2491740" cy="1554480"/>
          </a:xfrm>
          <a:prstGeom prst="roundRect">
            <a:avLst>
              <a:gd name="adj" fmla="val 5294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1993392"/>
            <a:ext cx="2253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AGIR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240012" y="2203704"/>
            <a:ext cx="2253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/ Mover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40012" y="2926080"/>
            <a:ext cx="2253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+ a mão HACKberry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6766560" cy="2148840"/>
          </a:xfrm>
          <a:prstGeom prst="roundRect">
            <a:avLst>
              <a:gd name="adj" fmla="val 383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50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Ferramentas (function calling)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a mão / parada de emergência</a:t>
            </a:r>
            <a:endParaRPr lang="en-US" sz="12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 cena e ler texto (VLM)</a:t>
            </a:r>
            <a:endParaRPr lang="en-US" sz="12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 pedra-papel-tesoura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931920" y="434340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entre conversas</a:t>
            </a:r>
            <a:endParaRPr lang="en-US" sz="12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Horas, clima, Wikipédia</a:t>
            </a:r>
            <a:endParaRPr lang="en-US" sz="12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Música, lembretes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589520" y="3794760"/>
            <a:ext cx="4023360" cy="2148840"/>
          </a:xfrm>
          <a:prstGeom prst="roundRect">
            <a:avLst>
              <a:gd name="adj" fmla="val 3830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812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 de segurança no prompt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18120" y="4370832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relatar um movimento que a ferramenta não confirmou. Ele comanda um corpo físico — na dúvida, diz exatamente o que a ferramenta respondeu.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SISTEMA 2  ·  gerado com a skill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Jokenpô Robótico — um workflow Agno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4505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VISÃO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266090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detectar_gesto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" y="35204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Claude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233172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33172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4505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53512" y="266090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sortear_jogada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53512" y="35204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jogada do robô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33172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233172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24505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39512" y="266090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mover_braco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9512" y="35204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HACKberry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0" y="233172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33172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512" y="24505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25512" y="266090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julgar_rodada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25512" y="35204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+ placar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26880" y="2331720"/>
            <a:ext cx="365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A3BD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33172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1512" y="24505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VOZ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811512" y="2660904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narrar_resultado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11512" y="35204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TTS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52628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= uma execução do pipeline. Anthropic / Claude como provider principal dos agentes.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pedra = punho (FIST)     ·     papel = mão aberta (OPEN)     ·     tesoura = apontar (POINT)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pedido ao jogo, ponta a ponta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12233F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3736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+ LLM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2020824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2384" y="1883664"/>
            <a:ext cx="365760" cy="365760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8" name="Text 6"/>
          <p:cNvSpPr/>
          <p:nvPr/>
        </p:nvSpPr>
        <p:spPr>
          <a:xfrm>
            <a:off x="3072384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54096" y="2304288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(uma frase)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48072" y="1737360"/>
            <a:ext cx="2020824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94376" y="1883664"/>
            <a:ext cx="365760" cy="365760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9437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76088" y="2304288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perguntas)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70064" y="1737360"/>
            <a:ext cx="2020824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1883664"/>
            <a:ext cx="365760" cy="365760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51636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0" y="2304288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AgentSpec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(YAML)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92056" y="1737360"/>
            <a:ext cx="2020824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1883664"/>
            <a:ext cx="365760" cy="365760"/>
          </a:xfrm>
          <a:prstGeom prst="ellipse">
            <a:avLst/>
          </a:prstGeom>
          <a:solidFill>
            <a:srgbClr val="5AA0F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83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720072" y="2304288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33270F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429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nós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3429000"/>
            <a:ext cx="2761488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72384" y="3575304"/>
            <a:ext cx="365760" cy="365760"/>
          </a:xfrm>
          <a:prstGeom prst="ellipse">
            <a:avLst/>
          </a:prstGeom>
          <a:solidFill>
            <a:srgbClr val="F2A94E"/>
          </a:solidFill>
          <a:ln/>
        </p:spPr>
      </p:sp>
      <p:sp>
        <p:nvSpPr>
          <p:cNvPr id="26" name="Text 24"/>
          <p:cNvSpPr/>
          <p:nvPr/>
        </p:nvSpPr>
        <p:spPr>
          <a:xfrm>
            <a:off x="3072384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54096" y="399592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Plugar na infra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Thoth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88736" y="3429000"/>
            <a:ext cx="2761488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3575304"/>
            <a:ext cx="365760" cy="365760"/>
          </a:xfrm>
          <a:prstGeom prst="ellipse">
            <a:avLst/>
          </a:prstGeom>
          <a:solidFill>
            <a:srgbClr val="F2A94E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016752" y="399592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51392" y="3429000"/>
            <a:ext cx="2761488" cy="1371600"/>
          </a:xfrm>
          <a:prstGeom prst="roundRect">
            <a:avLst>
              <a:gd name="adj" fmla="val 6000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97696" y="3575304"/>
            <a:ext cx="365760" cy="365760"/>
          </a:xfrm>
          <a:prstGeom prst="ellipse">
            <a:avLst/>
          </a:prstGeom>
          <a:solidFill>
            <a:srgbClr val="F2A94E"/>
          </a:solidFill>
          <a:ln/>
        </p:spPr>
      </p:sp>
      <p:sp>
        <p:nvSpPr>
          <p:cNvPr id="34" name="Text 32"/>
          <p:cNvSpPr/>
          <p:nvPr/>
        </p:nvSpPr>
        <p:spPr>
          <a:xfrm>
            <a:off x="8997696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979408" y="399592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(testes)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21208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decide o esqueleto (passos 1–4). O Claude Code lê o Thoth e pluga; nós implementamos e verificamos (5–7).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 reaproveitada do Thoth: HandLink (serial) · câmera + MediaPipe · motor de voz (TTS)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GRAMÁTICA:  LACUNA → CLAUDE → ARTEFATO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cada competência foi fechada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LACUNA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34340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ONDE O CLAUDE ENTROU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9552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ARTEFATO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multiagente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1920240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43400" y="192024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agno-factory (padrões do Sofia)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1920240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1920240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 Agno: fallback, memória, AgentOS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80944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com o hardware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77640" y="2980944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3400" y="2980944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leu a infra do Thoth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89520" y="2980944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55280" y="2980944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game/arm.py · vision.py · narrator.py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41648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gesto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77640" y="4041648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3400" y="4041648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VLM Claude (fallback)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89520" y="4041648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55280" y="4041648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game/vision.py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102352"/>
            <a:ext cx="11064240" cy="932688"/>
          </a:xfrm>
          <a:prstGeom prst="roundRect">
            <a:avLst>
              <a:gd name="adj" fmla="val 882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102352"/>
            <a:ext cx="3246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Narração por voz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977640" y="5102352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43400" y="510235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Agno + Claude + TTS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89520" y="5102352"/>
            <a:ext cx="320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3BD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55280" y="5102352"/>
            <a:ext cx="3566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game/narrator.py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HONESTIDADE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ferramenta fez — e o que fizemos nós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84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Entrevistou e montou a especificação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Gerou o scaffold determinístico (padrões testados)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 a infra do Thoth e escreveu as tools plugadas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Gerou os testes de fumaça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3566160"/>
          </a:xfrm>
          <a:prstGeom prst="roundRect">
            <a:avLst>
              <a:gd name="adj" fmla="val 2308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0848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decisões: workflow, mapa de gestos, Anthropic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do jogo e o placar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verificação no hardware real</a:t>
            </a:r>
            <a:endParaRPr lang="en-US" sz="1350" dirty="0"/>
          </a:p>
          <a:p>
            <a:pPr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Achamos e corrigimos um bug de prompt do narrador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11064240" cy="786384"/>
          </a:xfrm>
          <a:prstGeom prst="roundRect">
            <a:avLst>
              <a:gd name="adj" fmla="val 10465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62356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não 'fez o agente sozinho'. Ele empacotou uma expertise que não tínhamos e a aplicou ao nosso caso.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 pipeline roda, ou não roda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589520" cy="713232"/>
          </a:xfrm>
          <a:prstGeom prst="roundRect">
            <a:avLst>
              <a:gd name="adj" fmla="val 11538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48256"/>
            <a:ext cx="365760" cy="365760"/>
          </a:xfrm>
          <a:prstGeom prst="ellipse">
            <a:avLst/>
          </a:prstGeom>
          <a:solidFill>
            <a:srgbClr val="5AC0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87452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lógica: 6/6 (regras do jogo, sem hardware)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7589520" cy="713232"/>
          </a:xfrm>
          <a:prstGeom prst="roundRect">
            <a:avLst>
              <a:gd name="adj" fmla="val 11538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871216"/>
            <a:ext cx="365760" cy="365760"/>
          </a:xfrm>
          <a:prstGeom prst="ellipse">
            <a:avLst/>
          </a:prstGeom>
          <a:solidFill>
            <a:srgbClr val="5AC0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do workflow: os 5 steps instanciam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7589520" cy="713232"/>
          </a:xfrm>
          <a:prstGeom prst="roundRect">
            <a:avLst>
              <a:gd name="adj" fmla="val 11538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694176"/>
            <a:ext cx="365760" cy="365760"/>
          </a:xfrm>
          <a:prstGeom prst="ellipse">
            <a:avLst/>
          </a:prstGeom>
          <a:solidFill>
            <a:srgbClr val="5AC08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52044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ponta a ponta: os 5 steps rodam e produzem o resultado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7589520" cy="713232"/>
          </a:xfrm>
          <a:prstGeom prst="roundRect">
            <a:avLst>
              <a:gd name="adj" fmla="val 11538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517136"/>
            <a:ext cx="365760" cy="365760"/>
          </a:xfrm>
          <a:prstGeom prst="ellipse">
            <a:avLst/>
          </a:prstGeom>
          <a:solidFill>
            <a:srgbClr val="5AC08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34340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Narração do Claude correta nos 3 desfechos (bug de prompt corrigido)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7589520" cy="713232"/>
          </a:xfrm>
          <a:prstGeom prst="roundRect">
            <a:avLst>
              <a:gd name="adj" fmla="val 11538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340096"/>
            <a:ext cx="365760" cy="365760"/>
          </a:xfrm>
          <a:prstGeom prst="ellipse">
            <a:avLst/>
          </a:prstGeom>
          <a:solidFill>
            <a:srgbClr val="5AC08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16636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 sem hardware: sobe sem câmera nem braço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412480" y="1874520"/>
            <a:ext cx="3200400" cy="1600200"/>
          </a:xfrm>
          <a:prstGeom prst="roundRect">
            <a:avLst>
              <a:gd name="adj" fmla="val 5143"/>
            </a:avLst>
          </a:prstGeom>
          <a:solidFill>
            <a:srgbClr val="131F36"/>
          </a:solidFill>
          <a:ln w="12700">
            <a:solidFill>
              <a:srgbClr val="5AC0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011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84124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lógica verdes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3630168"/>
            <a:ext cx="3200400" cy="1600200"/>
          </a:xfrm>
          <a:prstGeom prst="roundRect">
            <a:avLst>
              <a:gd name="adj" fmla="val 5143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767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412480" y="4636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do workflow Agno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é testável sem hardware; o hardware é o juiz final — o servo não é educado.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sistemas agênticos, abertos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131F36"/>
          </a:solidFill>
          <a:ln w="12700">
            <a:solidFill>
              <a:srgbClr val="5AA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 de voz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por voz, move a mão, enxerga a cena e lembra de você. Function calling sobre a mesma mão HACKberry.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Jokenpô Robótico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jogo no navegador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063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Pedra-papel-tesoura contra o robô: visão lê seu gesto, a mão joga, o placar conta e o Claude narra por voz.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562356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agênticos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4700" y="507492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14700" y="562356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(agno-factory)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507492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80760" y="562356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46820" y="5074920"/>
            <a:ext cx="27660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A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846820" y="5623560"/>
            <a:ext cx="27660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no GitHub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mínimo para montar um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agêntico mudou.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56616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31F36"/>
          </a:solidFill>
          <a:ln w="12700">
            <a:solidFill>
              <a:srgbClr val="2939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0A3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time de especialistas em IA e sistemas agênticos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3566160"/>
            <a:ext cx="5394960" cy="1554480"/>
          </a:xfrm>
          <a:prstGeom prst="roundRect">
            <a:avLst>
              <a:gd name="adj" fmla="val 5294"/>
            </a:avLst>
          </a:prstGeom>
          <a:solidFill>
            <a:srgbClr val="131F36"/>
          </a:solidFill>
          <a:ln w="12700">
            <a:solidFill>
              <a:srgbClr val="F2A9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AGORA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4114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repositório, uma ideia, o Claude Code e uma skill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4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skill é expertise empacotada e replicável — a mesma ideia do projeto inteiro, agora como produto.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2026-08-10T14:42:03Z</dcterms:created>
  <dcterms:modified xsi:type="dcterms:W3CDTF">2026-08-10T14:42:03Z</dcterms:modified>
</cp:coreProperties>
</file>